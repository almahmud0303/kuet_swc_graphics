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8c7179a-75b0-eafa-e6af-337424ebe4cc}">
          <p14:sldIdLst>
            <p14:sldId id="256"/>
            <p14:sldId id="257"/>
            <p14:sldId id="258"/>
          </p14:sldIdLst>
        </p14:section>
        <p14:section name="Modelling and Viewing" id="{e7c83e96-2376-c801-1a2a-b267edd73ebf}">
          <p14:sldIdLst>
            <p14:sldId id="259"/>
            <p14:sldId id="260"/>
            <p14:sldId id="261"/>
          </p14:sldIdLst>
        </p14:section>
        <p14:section name="Rendering" id="{1b3dd966-beca-ad50-830b-f2bdecb83ba6}">
          <p14:sldIdLst>
            <p14:sldId id="262"/>
            <p14:sldId id="263"/>
          </p14:sldIdLst>
        </p14:section>
        <p14:section name="Interaction" id="{60ee8787-9445-342a-c9c3-1660dd654446}">
          <p14:sldIdLst>
            <p14:sldId id="264"/>
          </p14:sldIdLst>
        </p14:section>
        <p14:section name="Ray Tracing and Results" id="{df5227a2-d022-4370-86d2-d88d57f4716b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The picture is a real-time render from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objects: 21 ceiling fans, 7 vehicles and 35 pedestrians.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the requirements: shadow mapping, procedural materials, transparent glass, animation, collision detection and ray tracing.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curved brick wall is 60 by 14 quads on a cylinder. The stair inside it turns about 51 degrees over 20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Ambient blends sky and ground colour by the normal's Y. Gloss g sets the exponent k = 8 + 88 g. Lamps and lit signs are emissive.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Vehicles in one lane share speed and loop length, so their spacing never changes. Moving objects are not part of collision.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tree split minimises cost = A_L N_L + A_R N_R. Glass continues the ray undeviated and keeps 20 percent of the pane colour.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work: shadowed point lights, a skeletal walk cycle, path tracing, and a surveyed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CSE-4102  |  Abdullah Al Mahmud  |  Roll 2107099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Khulna University of Engineering &amp; Technology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Department of Computer Science and Engineering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3D Model of the KUET Student Welfare Centre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Real-time rendering, animation, walk-through and ray tracing in C++ and OpenGL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Course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CSE-4102: Computer Graphics and Image Processing Laboratory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663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Submitted by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Abdullah Al Mahmud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Roll: 2107099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CSE, KUET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51663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Course Teachers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Mr. Md. Mubtashim Abrar Nihal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Mr. Md. Tajmilur Rahman</a:t>
            </a:r>
            <a:endParaRPr lang="en-US" sz="1400" dirty="0"/>
          </a:p>
        </p:txBody>
      </p:sp>
      <p:pic>
        <p:nvPicPr>
          <p:cNvPr id="9" name="Rendered main entrance of the model" descr="Rendered main entrance of the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417320"/>
            <a:ext cx="4736592" cy="296037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903720" y="44805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The main entrance, rendered in real time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760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3D model of the SWC building, its interior, the site and the street behind it, rebuilt from 93 photographs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Written in C++17 and OpenGL 3.3; only GLFW is used, for the window and input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model files, no image textures, no math library: geometry, matrices, lighting and animation are all written in the project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Two renderers share one scene: a real-time rasteriser and a CPU ray tracer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Walk through the building with collision, stairs and floor levels</a:t>
            </a:r>
            <a:endParaRPr lang="en-US" sz="1500" dirty="0"/>
          </a:p>
        </p:txBody>
      </p:sp>
      <p:pic>
        <p:nvPicPr>
          <p:cNvPr id="4" name="Aerial view of the whole scene" descr="Aerial view of the whole sce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71600"/>
            <a:ext cx="5056632" cy="31603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0" y="457200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Aerial view of the complete scene</a:t>
            </a:r>
            <a:endParaRPr lang="en-US" sz="1100" dirty="0"/>
          </a:p>
        </p:txBody>
      </p:sp>
      <p:sp>
        <p:nvSpPr>
          <p:cNvPr id="6" name="Stat triangles"/>
          <p:cNvSpPr/>
          <p:nvPr/>
        </p:nvSpPr>
        <p:spPr>
          <a:xfrm>
            <a:off x="548640" y="5074920"/>
            <a:ext cx="2567178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120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367,000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42432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triangles</a:t>
            </a:r>
            <a:endParaRPr lang="en-US" sz="1300" dirty="0"/>
          </a:p>
        </p:txBody>
      </p:sp>
      <p:sp>
        <p:nvSpPr>
          <p:cNvPr id="9" name="Stat point lights"/>
          <p:cNvSpPr/>
          <p:nvPr/>
        </p:nvSpPr>
        <p:spPr>
          <a:xfrm>
            <a:off x="3390138" y="5074920"/>
            <a:ext cx="2567178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90138" y="5120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390138" y="5742432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point lights</a:t>
            </a:r>
            <a:endParaRPr lang="en-US" sz="1300" dirty="0"/>
          </a:p>
        </p:txBody>
      </p:sp>
      <p:sp>
        <p:nvSpPr>
          <p:cNvPr id="12" name="Stat preset views"/>
          <p:cNvSpPr/>
          <p:nvPr/>
        </p:nvSpPr>
        <p:spPr>
          <a:xfrm>
            <a:off x="6231636" y="5074920"/>
            <a:ext cx="2567178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31636" y="5120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231636" y="5742432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preset views</a:t>
            </a:r>
            <a:endParaRPr lang="en-US" sz="1300" dirty="0"/>
          </a:p>
        </p:txBody>
      </p:sp>
      <p:sp>
        <p:nvSpPr>
          <p:cNvPr id="15" name="Stat moving objects"/>
          <p:cNvSpPr/>
          <p:nvPr/>
        </p:nvSpPr>
        <p:spPr>
          <a:xfrm>
            <a:off x="9073134" y="5074920"/>
            <a:ext cx="2567178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73134" y="5120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9073134" y="5742432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moving objects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Course Requirements and How They Are Met</a:t>
            </a:r>
            <a:endParaRPr lang="en-US" sz="3000" dirty="0"/>
          </a:p>
        </p:txBody>
      </p:sp>
      <p:graphicFrame>
        <p:nvGraphicFramePr>
          <p:cNvPr id="4" name="Requirem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931920"/>
                <a:gridCol w="66111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Requirement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Implementation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Virtual 3D environment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SWC building, interior, site and street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Objects from basic primitives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Nine canonical shapes; everything is assembled from them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Translation, rotation, scaling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 4 x 4 matrices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Composite transformations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 R S products, transform stack, instanced moving objects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 vector and matrix operations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Vec3, Mat4, Mat3; dot, cross, product, inverse transpose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Camera and viewing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 look-at matrix; orbit and walking cameras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Perspective projection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 perspective and orthographic matrices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Interactive manipulation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Mouse and keyboard camera; keys to move, rotate, scale the model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Ambient, diffuse, specular lighting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sun and 113 point lights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Phong model, per-fragment shading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Evaluated in the fragment shader for every pixel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Exploring from different viewpoints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 views, orthographic elevations, walking mode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Geometric Modelling from Primitives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Everything is triangles; nine unit shapes are sized and placed to build the scene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Curved surfaces are flat pieces with true normals, so lighting stays smooth</a:t>
            </a:r>
            <a:endParaRPr lang="en-US" sz="1500" dirty="0"/>
          </a:p>
        </p:txBody>
      </p:sp>
      <p:sp>
        <p:nvSpPr>
          <p:cNvPr id="4" name="Card CYLINDER (columns, lamps, wheels)"/>
          <p:cNvSpPr/>
          <p:nvPr/>
        </p:nvSpPr>
        <p:spPr>
          <a:xfrm>
            <a:off x="548640" y="2468880"/>
            <a:ext cx="7223760" cy="9326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542032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CYLINDER (columns, lamps, wheels)</a:t>
            </a:r>
            <a:endParaRPr lang="en-US" sz="1200" dirty="0"/>
          </a:p>
        </p:txBody>
      </p:sp>
      <p:pic>
        <p:nvPicPr>
          <p:cNvPr id="6" name="Equation CYLINDER (columns, lamps, wheels)" descr="Equation: CYLINDER (columns, lamps, wheel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4372" y="2852928"/>
            <a:ext cx="3652296" cy="384048"/>
          </a:xfrm>
          <a:prstGeom prst="rect">
            <a:avLst/>
          </a:prstGeom>
        </p:spPr>
      </p:pic>
      <p:sp>
        <p:nvSpPr>
          <p:cNvPr id="7" name="Card SPHERE (foliage, lamp globes)"/>
          <p:cNvSpPr/>
          <p:nvPr/>
        </p:nvSpPr>
        <p:spPr>
          <a:xfrm>
            <a:off x="548640" y="3547872"/>
            <a:ext cx="7223760" cy="9326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3621024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SPHERE (foliage, lamp globes)</a:t>
            </a:r>
            <a:endParaRPr lang="en-US" sz="1200" dirty="0"/>
          </a:p>
        </p:txBody>
      </p:sp>
      <p:pic>
        <p:nvPicPr>
          <p:cNvPr id="9" name="Equation SPHERE (foliage, lamp globes)" descr="Equation: SPHERE (foliage, lamp globes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044" y="3931920"/>
            <a:ext cx="4202952" cy="384048"/>
          </a:xfrm>
          <a:prstGeom prst="rect">
            <a:avLst/>
          </a:prstGeom>
        </p:spPr>
      </p:pic>
      <p:sp>
        <p:nvSpPr>
          <p:cNvPr id="10" name="Card CURVED STAIR: each step is a ring sector"/>
          <p:cNvSpPr/>
          <p:nvPr/>
        </p:nvSpPr>
        <p:spPr>
          <a:xfrm>
            <a:off x="548640" y="4626864"/>
            <a:ext cx="7223760" cy="111556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3232" y="4700016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CURVED STAIR: each step is a ring sector</a:t>
            </a:r>
            <a:endParaRPr lang="en-US" sz="1200" dirty="0"/>
          </a:p>
        </p:txBody>
      </p:sp>
      <p:pic>
        <p:nvPicPr>
          <p:cNvPr id="12" name="Equation CURVED STAIR: each step is a ring sector" descr="Equation: CURVED STAIR: each step is a ring sec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870" y="5010912"/>
            <a:ext cx="3245299" cy="566928"/>
          </a:xfrm>
          <a:prstGeom prst="rect">
            <a:avLst/>
          </a:prstGeom>
        </p:spPr>
      </p:pic>
      <p:pic>
        <p:nvPicPr>
          <p:cNvPr id="13" name="The nine basic shapes" descr="The nine basic shap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276" y="1325880"/>
            <a:ext cx="3169920" cy="23774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138160" y="372160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The nine basic shapes</a:t>
            </a:r>
            <a:endParaRPr lang="en-US" sz="1100" dirty="0"/>
          </a:p>
        </p:txBody>
      </p:sp>
      <p:pic>
        <p:nvPicPr>
          <p:cNvPr id="15" name="Curved stair built from ring sectors" descr="Curved stair built from ring secto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116" y="4069080"/>
            <a:ext cx="2682240" cy="20116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138160" y="60990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Curved stair of 20 sector steps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Transformations, Hierarchy and Instancing</a:t>
            </a:r>
            <a:endParaRPr lang="en-US" sz="3000" dirty="0"/>
          </a:p>
        </p:txBody>
      </p:sp>
      <p:sp>
        <p:nvSpPr>
          <p:cNvPr id="3" name="Card TRANSLATION, SCALING, ROTATION (homogeneous 4 x 4)"/>
          <p:cNvSpPr/>
          <p:nvPr/>
        </p:nvSpPr>
        <p:spPr>
          <a:xfrm>
            <a:off x="548640" y="1325880"/>
            <a:ext cx="7223760" cy="15087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399032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TRANSLATION, SCALING, ROTATION (homogeneous 4 x 4)</a:t>
            </a:r>
            <a:endParaRPr lang="en-US" sz="1200" dirty="0"/>
          </a:p>
        </p:txBody>
      </p:sp>
      <p:pic>
        <p:nvPicPr>
          <p:cNvPr id="5" name="Equation TRANSLATION, SCALING, ROTATION (homogeneous 4 x 4)" descr="Equation: TRANSLATION, SCALING, ROTATION (homogeneous 4 x 4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633" y="1709928"/>
            <a:ext cx="6065775" cy="960120"/>
          </a:xfrm>
          <a:prstGeom prst="rect">
            <a:avLst/>
          </a:prstGeom>
        </p:spPr>
      </p:pic>
      <p:sp>
        <p:nvSpPr>
          <p:cNvPr id="6" name="Card COMPOSITE (scale, then rotate, then translate) AND PARENT-CHILD STACK"/>
          <p:cNvSpPr/>
          <p:nvPr/>
        </p:nvSpPr>
        <p:spPr>
          <a:xfrm>
            <a:off x="548640" y="2980944"/>
            <a:ext cx="7223760" cy="85953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3054096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COMPOSITE (scale, then rotate, then translate) AND PARENT-CHILD STACK</a:t>
            </a:r>
            <a:endParaRPr lang="en-US" sz="1200" dirty="0"/>
          </a:p>
        </p:txBody>
      </p:sp>
      <p:pic>
        <p:nvPicPr>
          <p:cNvPr id="8" name="Equation COMPOSITE (scale, then rotate, then translate) AND PARENT-CHILD STACK" descr="Equation: COMPOSITE (scale, then rotate, then translate) AND PARENT-CHILD ST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644" y="3364992"/>
            <a:ext cx="3973751" cy="310896"/>
          </a:xfrm>
          <a:prstGeom prst="rect">
            <a:avLst/>
          </a:prstGeom>
        </p:spPr>
      </p:pic>
      <p:sp>
        <p:nvSpPr>
          <p:cNvPr id="9" name="Card NORMALS UNDER NON-UNIFORM SCALE"/>
          <p:cNvSpPr/>
          <p:nvPr/>
        </p:nvSpPr>
        <p:spPr>
          <a:xfrm>
            <a:off x="548640" y="3986784"/>
            <a:ext cx="3497580" cy="87782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3232" y="4059936"/>
            <a:ext cx="3168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NORMALS UNDER NON-UNIFORM SCALE</a:t>
            </a:r>
            <a:endParaRPr lang="en-US" sz="1200" dirty="0"/>
          </a:p>
        </p:txBody>
      </p:sp>
      <p:pic>
        <p:nvPicPr>
          <p:cNvPr id="11" name="Equation NORMALS UNDER NON-UNIFORM SCALE" descr="Equation: NORMALS UNDER NON-UNIFORM 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264" y="4370832"/>
            <a:ext cx="2120332" cy="329184"/>
          </a:xfrm>
          <a:prstGeom prst="rect">
            <a:avLst/>
          </a:prstGeom>
        </p:spPr>
      </p:pic>
      <p:sp>
        <p:nvSpPr>
          <p:cNvPr id="12" name="Card INSTANCING: ONE MESH, MANY MATRICES"/>
          <p:cNvSpPr/>
          <p:nvPr/>
        </p:nvSpPr>
        <p:spPr>
          <a:xfrm>
            <a:off x="4274820" y="3986784"/>
            <a:ext cx="3497580" cy="87782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439412" y="4059936"/>
            <a:ext cx="3168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INSTANCING: ONE MESH, MANY MATRICES</a:t>
            </a:r>
            <a:endParaRPr lang="en-US" sz="1200" dirty="0"/>
          </a:p>
        </p:txBody>
      </p:sp>
      <p:pic>
        <p:nvPicPr>
          <p:cNvPr id="14" name="Equation INSTANCING: ONE MESH, MANY MATRICES" descr="Equation: INSTANCING: ONE MESH, MANY MATRIC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995" y="4370832"/>
            <a:ext cx="2749229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48640" y="502920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window bay is written once and placed along each wing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21 fans, 7 vehicles and 35 people are drawn from 14 small meshes</a:t>
            </a:r>
            <a:endParaRPr lang="en-US" sz="1400" dirty="0"/>
          </a:p>
        </p:txBody>
      </p:sp>
      <p:pic>
        <p:nvPicPr>
          <p:cNvPr id="16" name="Cafeteria hall with repeated table sets and fans" descr="Cafeteria hall with repeated table sets and fan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276" y="1325880"/>
            <a:ext cx="3169920" cy="23774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138160" y="372160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One table set placed 24 times; 14 fan instances</a:t>
            </a:r>
            <a:endParaRPr lang="en-US" sz="1100" dirty="0"/>
          </a:p>
        </p:txBody>
      </p:sp>
      <p:pic>
        <p:nvPicPr>
          <p:cNvPr id="18" name="Stage wing built from repeated bays" descr="Stage wing built from repeated bay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116" y="4069080"/>
            <a:ext cx="2682240" cy="20116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138160" y="60990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Repeated window and balcony bays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Camera, Viewing and Projection</a:t>
            </a:r>
            <a:endParaRPr lang="en-US" sz="3000" dirty="0"/>
          </a:p>
        </p:txBody>
      </p:sp>
      <p:sp>
        <p:nvSpPr>
          <p:cNvPr id="3" name="Card ORBIT CAMERA: eye on a sphere around the target"/>
          <p:cNvSpPr/>
          <p:nvPr/>
        </p:nvSpPr>
        <p:spPr>
          <a:xfrm>
            <a:off x="548640" y="1325880"/>
            <a:ext cx="694944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399032"/>
            <a:ext cx="6620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ORBIT CAMERA: eye on a sphere around the target</a:t>
            </a:r>
            <a:endParaRPr lang="en-US" sz="1200" dirty="0"/>
          </a:p>
        </p:txBody>
      </p:sp>
      <p:pic>
        <p:nvPicPr>
          <p:cNvPr id="5" name="Equation ORBIT CAMERA: eye on a sphere around the target" descr="Equation: ORBIT CAMERA: eye on a sphere around the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7022" y="1709928"/>
            <a:ext cx="4072676" cy="365760"/>
          </a:xfrm>
          <a:prstGeom prst="rect">
            <a:avLst/>
          </a:prstGeom>
        </p:spPr>
      </p:pic>
      <p:sp>
        <p:nvSpPr>
          <p:cNvPr id="6" name="Card VIEW MATRIX (look-at)"/>
          <p:cNvSpPr/>
          <p:nvPr/>
        </p:nvSpPr>
        <p:spPr>
          <a:xfrm>
            <a:off x="548640" y="2386584"/>
            <a:ext cx="2697480" cy="138862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245973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VIEW MATRIX (look-at)</a:t>
            </a:r>
            <a:endParaRPr lang="en-US" sz="1200" dirty="0"/>
          </a:p>
        </p:txBody>
      </p:sp>
      <p:pic>
        <p:nvPicPr>
          <p:cNvPr id="8" name="Equation VIEW MATRIX (look-at)" descr="Equation: VIEW MATRIX (look-at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70632"/>
            <a:ext cx="2331720" cy="839981"/>
          </a:xfrm>
          <a:prstGeom prst="rect">
            <a:avLst/>
          </a:prstGeom>
        </p:spPr>
      </p:pic>
      <p:sp>
        <p:nvSpPr>
          <p:cNvPr id="9" name="Card PERSPECTIVE PROJECTION"/>
          <p:cNvSpPr/>
          <p:nvPr/>
        </p:nvSpPr>
        <p:spPr>
          <a:xfrm>
            <a:off x="3474720" y="2386584"/>
            <a:ext cx="4023360" cy="14630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639312" y="24597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PERSPECTIVE PROJECTION</a:t>
            </a:r>
            <a:endParaRPr lang="en-US" sz="1200" dirty="0"/>
          </a:p>
        </p:txBody>
      </p:sp>
      <p:pic>
        <p:nvPicPr>
          <p:cNvPr id="11" name="Equation PERSPECTIVE PROJECTION" descr="Equation: PERSPECTIVE PROJEC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421" y="2770632"/>
            <a:ext cx="3639959" cy="914400"/>
          </a:xfrm>
          <a:prstGeom prst="rect">
            <a:avLst/>
          </a:prstGeom>
        </p:spPr>
      </p:pic>
      <p:sp>
        <p:nvSpPr>
          <p:cNvPr id="12" name="Card FULL CHAIN FOR A VERTEX"/>
          <p:cNvSpPr/>
          <p:nvPr/>
        </p:nvSpPr>
        <p:spPr>
          <a:xfrm>
            <a:off x="548640" y="3995928"/>
            <a:ext cx="6949440" cy="822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13232" y="4069080"/>
            <a:ext cx="6620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FULL CHAIN FOR A VERTEX</a:t>
            </a:r>
            <a:endParaRPr lang="en-US" sz="1200" dirty="0"/>
          </a:p>
        </p:txBody>
      </p:sp>
      <p:pic>
        <p:nvPicPr>
          <p:cNvPr id="14" name="Equation FULL CHAIN FOR A VERTEX" descr="Equation: FULL CHAIN FOR A VERTE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326" y="4379976"/>
            <a:ext cx="1340069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48640" y="49834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Dividing by w after projection makes distant objects smaller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Orthographic projection (no division) gives the plan and elevations</a:t>
            </a:r>
            <a:endParaRPr lang="en-US" sz="1400" dirty="0"/>
          </a:p>
        </p:txBody>
      </p:sp>
      <p:pic>
        <p:nvPicPr>
          <p:cNvPr id="16" name="Orthographic plan of the site" descr="Orthographic plan of the si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325880"/>
            <a:ext cx="3867912" cy="386791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772400" y="523036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Orthographic plan: size does not depend on distance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Phong Lighting, Point Lights and Shadows</a:t>
            </a:r>
            <a:endParaRPr lang="en-US" sz="3000" dirty="0"/>
          </a:p>
        </p:txBody>
      </p:sp>
      <p:sp>
        <p:nvSpPr>
          <p:cNvPr id="3" name="Card PHONG MODEL, evaluated per pixel: diffuse, specular, final colour"/>
          <p:cNvSpPr/>
          <p:nvPr/>
        </p:nvSpPr>
        <p:spPr>
          <a:xfrm>
            <a:off x="548640" y="1325880"/>
            <a:ext cx="7223760" cy="1691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399032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PHONG MODEL, evaluated per pixel: diffuse, specular, final colour</a:t>
            </a:r>
            <a:endParaRPr lang="en-US" sz="1200" dirty="0"/>
          </a:p>
        </p:txBody>
      </p:sp>
      <p:pic>
        <p:nvPicPr>
          <p:cNvPr id="5" name="Equation PHONG MODEL, evaluated per pixel: diffuse, specular, final colour" descr="Equation: PHONG MODEL, evaluated per pixel: diffuse, specular, final colo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709928"/>
            <a:ext cx="5120640" cy="1143000"/>
          </a:xfrm>
          <a:prstGeom prst="rect">
            <a:avLst/>
          </a:prstGeom>
        </p:spPr>
      </p:pic>
      <p:sp>
        <p:nvSpPr>
          <p:cNvPr id="6" name="Card POINT LIGHTS: attenuation with a smooth cut-off radius"/>
          <p:cNvSpPr/>
          <p:nvPr/>
        </p:nvSpPr>
        <p:spPr>
          <a:xfrm>
            <a:off x="548640" y="3163824"/>
            <a:ext cx="7223760" cy="12070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3236976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POINT LIGHTS: attenuation with a smooth cut-off radius</a:t>
            </a:r>
            <a:endParaRPr lang="en-US" sz="1200" dirty="0"/>
          </a:p>
        </p:txBody>
      </p:sp>
      <p:pic>
        <p:nvPicPr>
          <p:cNvPr id="8" name="Equation POINT LIGHTS: attenuation with a smooth cut-off radius" descr="Equation: POINT LIGHTS: attenuation with a smooth cut-off radi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683" y="3547872"/>
            <a:ext cx="5589673" cy="658368"/>
          </a:xfrm>
          <a:prstGeom prst="rect">
            <a:avLst/>
          </a:prstGeom>
        </p:spPr>
      </p:pic>
      <p:sp>
        <p:nvSpPr>
          <p:cNvPr id="9" name="Card SHADOW MAP 4096 x 4096, softened by 3 x 3 filtering"/>
          <p:cNvSpPr/>
          <p:nvPr/>
        </p:nvSpPr>
        <p:spPr>
          <a:xfrm>
            <a:off x="548640" y="4517136"/>
            <a:ext cx="7223760" cy="12070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3232" y="4590288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SHADOW MAP 4096 x 4096, softened by 3 x 3 filtering</a:t>
            </a:r>
            <a:endParaRPr lang="en-US" sz="1200" dirty="0"/>
          </a:p>
        </p:txBody>
      </p:sp>
      <p:pic>
        <p:nvPicPr>
          <p:cNvPr id="11" name="Equation SHADOW MAP 4096 x 4096, softened by 3 x 3 filtering" descr="Equation: SHADOW MAP 4096 x 4096, softened by 3 x 3 filter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33" y="4901184"/>
            <a:ext cx="4325975" cy="658368"/>
          </a:xfrm>
          <a:prstGeom prst="rect">
            <a:avLst/>
          </a:prstGeom>
        </p:spPr>
      </p:pic>
      <p:pic>
        <p:nvPicPr>
          <p:cNvPr id="12" name="Corridor lit by ceiling point lights" descr="Corridor lit by ceiling point ligh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276" y="1325880"/>
            <a:ext cx="3169920" cy="237744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138160" y="372160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Corridor lit by ceiling point lights</a:t>
            </a:r>
            <a:endParaRPr lang="en-US" sz="1100" dirty="0"/>
          </a:p>
        </p:txBody>
      </p:sp>
      <p:pic>
        <p:nvPicPr>
          <p:cNvPr id="14" name="Sun shadows on the street" descr="Sun shadows on the stre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116" y="4069080"/>
            <a:ext cx="2682240" cy="201168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138160" y="60990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Sun shadows from the shadow map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Procedural Materials and Transparent Glass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image textures: a pattern number on each vertex selects a function of world position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Brick and paving use running bond; floor tiles a straight 0.6 m grid; grass, bark and thatch use value noise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Patterns fade to their average colour when smaller than a pixel, which removes shimmer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Glass panes are drawn last, sorted far to near, and blended</a:t>
            </a:r>
            <a:endParaRPr lang="en-US" sz="1500" dirty="0"/>
          </a:p>
        </p:txBody>
      </p:sp>
      <p:sp>
        <p:nvSpPr>
          <p:cNvPr id="4" name="Card RUNNING BOND: which brick, and where inside it"/>
          <p:cNvSpPr/>
          <p:nvPr/>
        </p:nvSpPr>
        <p:spPr>
          <a:xfrm>
            <a:off x="548640" y="3474720"/>
            <a:ext cx="7223760" cy="1005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3547872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RUNNING BOND: which brick, and where inside it</a:t>
            </a:r>
            <a:endParaRPr lang="en-US" sz="1200" dirty="0"/>
          </a:p>
        </p:txBody>
      </p:sp>
      <p:pic>
        <p:nvPicPr>
          <p:cNvPr id="6" name="Equation RUNNING BOND: which brick, and where inside it" descr="Equation: RUNNING BOND: which brick, and where inside 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3858768"/>
            <a:ext cx="5138928" cy="457200"/>
          </a:xfrm>
          <a:prstGeom prst="rect">
            <a:avLst/>
          </a:prstGeom>
        </p:spPr>
      </p:pic>
      <p:sp>
        <p:nvSpPr>
          <p:cNvPr id="7" name="Card ALPHA BLENDING FOR GLASS"/>
          <p:cNvSpPr/>
          <p:nvPr/>
        </p:nvSpPr>
        <p:spPr>
          <a:xfrm>
            <a:off x="548640" y="4626864"/>
            <a:ext cx="7223760" cy="85953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4700016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ALPHA BLENDING FOR GLASS</a:t>
            </a:r>
            <a:endParaRPr lang="en-US" sz="1200" dirty="0"/>
          </a:p>
        </p:txBody>
      </p:sp>
      <p:pic>
        <p:nvPicPr>
          <p:cNvPr id="9" name="Equation ALPHA BLENDING FOR GLASS" descr="Equation: ALPHA BLENDING FOR 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529" y="5010912"/>
            <a:ext cx="4027982" cy="310896"/>
          </a:xfrm>
          <a:prstGeom prst="rect">
            <a:avLst/>
          </a:prstGeom>
        </p:spPr>
      </p:pic>
      <p:pic>
        <p:nvPicPr>
          <p:cNvPr id="10" name="Shop front with glass and tiled floor" descr="Shop front with glass and tiled flo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276" y="1325880"/>
            <a:ext cx="3169920" cy="23774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138160" y="372160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Glass shop front and tiled floor</a:t>
            </a:r>
            <a:endParaRPr lang="en-US" sz="1100" dirty="0"/>
          </a:p>
        </p:txBody>
      </p:sp>
      <p:pic>
        <p:nvPicPr>
          <p:cNvPr id="12" name="Brick and paving patterns at the campus gate" descr="Brick and paving patterns at the campus g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8116" y="4069080"/>
            <a:ext cx="2682240" cy="20116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138160" y="60990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Procedural brick and paving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Animation and Walking with Collision</a:t>
            </a:r>
            <a:endParaRPr lang="en-US" sz="3000" dirty="0"/>
          </a:p>
        </p:txBody>
      </p:sp>
      <p:sp>
        <p:nvSpPr>
          <p:cNvPr id="3" name="Card CEILING FANS"/>
          <p:cNvSpPr/>
          <p:nvPr/>
        </p:nvSpPr>
        <p:spPr>
          <a:xfrm>
            <a:off x="548640" y="1325880"/>
            <a:ext cx="3497580" cy="822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399032"/>
            <a:ext cx="3168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CEILING FANS</a:t>
            </a:r>
            <a:endParaRPr lang="en-US" sz="1200" dirty="0"/>
          </a:p>
        </p:txBody>
      </p:sp>
      <p:pic>
        <p:nvPicPr>
          <p:cNvPr id="5" name="Equation CEILING FANS" descr="Equation: CEILING FA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48" y="1709928"/>
            <a:ext cx="3079165" cy="274320"/>
          </a:xfrm>
          <a:prstGeom prst="rect">
            <a:avLst/>
          </a:prstGeom>
        </p:spPr>
      </p:pic>
      <p:sp>
        <p:nvSpPr>
          <p:cNvPr id="6" name="Card TRAFFIC: distance round a loop"/>
          <p:cNvSpPr/>
          <p:nvPr/>
        </p:nvSpPr>
        <p:spPr>
          <a:xfrm>
            <a:off x="4274820" y="1325880"/>
            <a:ext cx="3497580" cy="78385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39412" y="1399032"/>
            <a:ext cx="3168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TRAFFIC: distance round a loop</a:t>
            </a:r>
            <a:endParaRPr lang="en-US" sz="1200" dirty="0"/>
          </a:p>
        </p:txBody>
      </p:sp>
      <p:pic>
        <p:nvPicPr>
          <p:cNvPr id="8" name="Equation TRAFFIC: distance round a loop" descr="Equation: TRAFFIC: distance round a lo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09928"/>
            <a:ext cx="3131820" cy="235217"/>
          </a:xfrm>
          <a:prstGeom prst="rect">
            <a:avLst/>
          </a:prstGeom>
        </p:spPr>
      </p:pic>
      <p:sp>
        <p:nvSpPr>
          <p:cNvPr id="9" name="Card PEDESTRIANS: position and heading along a route"/>
          <p:cNvSpPr/>
          <p:nvPr/>
        </p:nvSpPr>
        <p:spPr>
          <a:xfrm>
            <a:off x="548640" y="2256041"/>
            <a:ext cx="7223760" cy="87782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3232" y="2329193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PEDESTRIANS: position and heading along a route</a:t>
            </a:r>
            <a:endParaRPr lang="en-US" sz="1200" dirty="0"/>
          </a:p>
        </p:txBody>
      </p:sp>
      <p:pic>
        <p:nvPicPr>
          <p:cNvPr id="11" name="Equation PEDESTRIANS: position and heading along a route" descr="Equation: PEDESTRIANS: position and heading along a 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575" y="2640089"/>
            <a:ext cx="4567890" cy="329184"/>
          </a:xfrm>
          <a:prstGeom prst="rect">
            <a:avLst/>
          </a:prstGeom>
        </p:spPr>
      </p:pic>
      <p:sp>
        <p:nvSpPr>
          <p:cNvPr id="12" name="Card COLLISION: closest point on a wall edge to the walker"/>
          <p:cNvSpPr/>
          <p:nvPr/>
        </p:nvSpPr>
        <p:spPr>
          <a:xfrm>
            <a:off x="548640" y="3280169"/>
            <a:ext cx="7223760" cy="12070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13232" y="3353321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COLLISION: closest point on a wall edge to the walker</a:t>
            </a:r>
            <a:endParaRPr lang="en-US" sz="1200" dirty="0"/>
          </a:p>
        </p:txBody>
      </p:sp>
      <p:pic>
        <p:nvPicPr>
          <p:cNvPr id="14" name="Equation COLLISION: closest point on a wall edge to the walker" descr="Equation: COLLISION: closest point on a wall edge to the walk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806" y="3664217"/>
            <a:ext cx="5917427" cy="6583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48640" y="4651769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 easybikes, 2 cycle-vans and a bus that appears about a third of the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35 people on 14 routes, inside and outside the building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walker is a cylinder; floors come from barycentric coordinates, so stairs work</a:t>
            </a:r>
            <a:endParaRPr lang="en-US" sz="1400" dirty="0"/>
          </a:p>
        </p:txBody>
      </p:sp>
      <p:pic>
        <p:nvPicPr>
          <p:cNvPr id="16" name="Easybike on the back road" descr="Easybike on the back roa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276" y="1325880"/>
            <a:ext cx="3169920" cy="23774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138160" y="372160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Easybike on the road behind the SWC</a:t>
            </a:r>
            <a:endParaRPr lang="en-US" sz="1100" dirty="0"/>
          </a:p>
        </p:txBody>
      </p:sp>
      <p:pic>
        <p:nvPicPr>
          <p:cNvPr id="18" name="Cycle-van on the back road" descr="Cycle-van on the back roa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116" y="4069080"/>
            <a:ext cx="2682240" cy="20116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138160" y="60990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Cycle-van with its rider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Ray Tracing the Same Scene</a:t>
            </a:r>
            <a:endParaRPr lang="en-US" sz="3000" dirty="0"/>
          </a:p>
        </p:txBody>
      </p:sp>
      <p:pic>
        <p:nvPicPr>
          <p:cNvPr id="3" name="Cafeteria rasterised (left) and ray traced (right)" descr="Cafeteria rasterised (left) and ray traced (righ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1559" y="1325880"/>
            <a:ext cx="6745834" cy="2514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679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Left: real-time OpenGL.  Right: ray traced, with floor reflections, lamp shadows and ambient occlusion</a:t>
            </a:r>
            <a:endParaRPr lang="en-US" sz="1100" dirty="0"/>
          </a:p>
        </p:txBody>
      </p:sp>
      <p:sp>
        <p:nvSpPr>
          <p:cNvPr id="5" name="Card RAY THROUGH A PIXEL"/>
          <p:cNvSpPr/>
          <p:nvPr/>
        </p:nvSpPr>
        <p:spPr>
          <a:xfrm>
            <a:off x="548640" y="4206240"/>
            <a:ext cx="3544824" cy="10515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4279392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RAY THROUGH A PIXEL</a:t>
            </a:r>
            <a:endParaRPr lang="en-US" sz="1200" dirty="0"/>
          </a:p>
        </p:txBody>
      </p:sp>
      <p:pic>
        <p:nvPicPr>
          <p:cNvPr id="7" name="Equation RAY THROUGH A PIXEL" descr="Equation: RAY THROUGH A PIX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977" y="4590288"/>
            <a:ext cx="2038149" cy="502920"/>
          </a:xfrm>
          <a:prstGeom prst="rect">
            <a:avLst/>
          </a:prstGeom>
        </p:spPr>
      </p:pic>
      <p:sp>
        <p:nvSpPr>
          <p:cNvPr id="8" name="Card RAY-TRIANGLE HIT (Moller-Trumbore)"/>
          <p:cNvSpPr/>
          <p:nvPr/>
        </p:nvSpPr>
        <p:spPr>
          <a:xfrm>
            <a:off x="4322064" y="4206240"/>
            <a:ext cx="3544824" cy="10515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486656" y="4279392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RAY-TRIANGLE HIT (Moller-Trumbore)</a:t>
            </a:r>
            <a:endParaRPr lang="en-US" sz="1200" dirty="0"/>
          </a:p>
        </p:txBody>
      </p:sp>
      <p:pic>
        <p:nvPicPr>
          <p:cNvPr id="10" name="Equation RAY-TRIANGLE HIT (Moller-Trumbore)" descr="Equation: RAY-TRIANGLE HIT (Moller-Trumbor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901" y="4590288"/>
            <a:ext cx="2963150" cy="502920"/>
          </a:xfrm>
          <a:prstGeom prst="rect">
            <a:avLst/>
          </a:prstGeom>
        </p:spPr>
      </p:pic>
      <p:sp>
        <p:nvSpPr>
          <p:cNvPr id="11" name="Card REFLECTION AND FRESNEL"/>
          <p:cNvSpPr/>
          <p:nvPr/>
        </p:nvSpPr>
        <p:spPr>
          <a:xfrm>
            <a:off x="8095488" y="4206240"/>
            <a:ext cx="3544824" cy="10515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260080" y="4279392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REFLECTION AND FRESNEL</a:t>
            </a:r>
            <a:endParaRPr lang="en-US" sz="1200" dirty="0"/>
          </a:p>
        </p:txBody>
      </p:sp>
      <p:pic>
        <p:nvPicPr>
          <p:cNvPr id="13" name="Equation REFLECTION AND FRESNEL" descr="Equation: REFLECTION AND FRESN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472" y="4590288"/>
            <a:ext cx="2032856" cy="5029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bounding-volume hierarchy built with the surface-area heuristic makes 350,000 triangles tractable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Shadow rays to the sun and to every lamp; up to three reflection bounces; one thread per processor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and Conclusion</a:t>
            </a:r>
            <a:endParaRPr lang="en-US" sz="3000" dirty="0"/>
          </a:p>
        </p:txBody>
      </p:sp>
      <p:pic>
        <p:nvPicPr>
          <p:cNvPr id="3" name="Photographs beside the matching rendered views" descr="Photographs beside the matching rendered vie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45" y="1325880"/>
            <a:ext cx="5049430" cy="4754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08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Photographs (left of each pair) beside the model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1325880"/>
            <a:ext cx="5513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was achieved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37360"/>
            <a:ext cx="55138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11 course requirements met with code written from first principles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recognisable building, inside and out, that can be explored on foot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Shadows, procedural materials, glass, animation and collision added on top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Three automatic tests pass, including walking every stair and hall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3931920"/>
            <a:ext cx="5513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4343400"/>
            <a:ext cx="55138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Dimensions are estimated from photographs, not measured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Point lights cast no shadows in real time; the ray tracer has no soft shadows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Vehicles and people follow fixed paths and are not part of collision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C Monochrome">
  <a:themeElements>
    <a:clrScheme name="SWC Monochrome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595959"/>
      </a:accent1>
      <a:accent2>
        <a:srgbClr val="7F7F7F"/>
      </a:accent2>
      <a:accent3>
        <a:srgbClr val="A6A6A6"/>
      </a:accent3>
      <a:accent4>
        <a:srgbClr val="BFBFBF"/>
      </a:accent4>
      <a:accent5>
        <a:srgbClr val="D9D9D9"/>
      </a:accent5>
      <a:accent6>
        <a:srgbClr val="262626"/>
      </a:accent6>
      <a:hlink>
        <a:srgbClr val="404040"/>
      </a:hlink>
      <a:folHlink>
        <a:srgbClr val="7F7F7F"/>
      </a:folHlink>
    </a:clrScheme>
    <a:fontScheme name="SWC Monochro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Interactive 3D Model of the KUET Student Welfare Centre</dc:title>
  <dc:subject>PptxGenJS Presentation</dc:subject>
  <dc:creator>Abdullah Al Mahmud</dc:creator>
  <cp:lastModifiedBy>Abdullah Al Mahmud</cp:lastModifiedBy>
  <cp:revision>1</cp:revision>
  <dcterms:created xsi:type="dcterms:W3CDTF">2026-10-09T14:54:51Z</dcterms:created>
  <dcterms:modified xsi:type="dcterms:W3CDTF">2026-10-09T14:54:51Z</dcterms:modified>
</cp:coreProperties>
</file>